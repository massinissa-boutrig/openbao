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761"/>
                </a:solidFill>
                <a:latin typeface="Arial"/>
              </a:rPr>
              <a:t>Coût d'exploitation total (base 100)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Barbican par projet (silo)</c:v>
                </c:pt>
              </c:strCache>
            </c:strRef>
          </c:tx>
          <c:spPr>
            <a:solidFill>
              <a:srgbClr val="C84B3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 1</c:v>
                  </c:pt>
                  <c:pt idx="1">
                    <c:v>An 2</c:v>
                  </c:pt>
                  <c:pt idx="2">
                    <c:v>An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110</c:v>
                </c:pt>
                <c:pt idx="2">
                  <c:v>120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OpenBao centralisé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 1</c:v>
                  </c:pt>
                  <c:pt idx="1">
                    <c:v>An 2</c:v>
                  </c:pt>
                  <c:pt idx="2">
                    <c:v>An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70</c:v>
                </c:pt>
                <c:pt idx="1">
                  <c:v>50</c:v>
                </c:pt>
                <c:pt idx="2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0"/>
            <a:ext cx="2194560" cy="5143500"/>
          </a:xfrm>
          <a:prstGeom prst="rect">
            <a:avLst/>
          </a:prstGeom>
          <a:solidFill>
            <a:srgbClr val="CADCFC">
              <a:alpha val="12000"/>
            </a:srgbClr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E0B254"/>
          </a:solidFill>
          <a:ln w="12700">
            <a:solidFill>
              <a:srgbClr val="E0B25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0B2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DSI · SÉCURITÉ DES SECRETS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40080" y="1554480"/>
            <a:ext cx="7772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Centraliser la gestion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 secrets sur OpenBao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2918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Sortir d'une gestion fragmentée par projet sur Barbican, réduire le risque, professionnaliser l'audit, ouvrir le MFA.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4480560"/>
            <a:ext cx="45720" cy="365760"/>
          </a:xfrm>
          <a:prstGeom prst="rect">
            <a:avLst/>
          </a:prstGeom>
          <a:solidFill>
            <a:srgbClr val="E0B254"/>
          </a:solidFill>
          <a:ln w="12700">
            <a:solidFill>
              <a:srgbClr val="E0B25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44805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à la Direction Financière &amp; Stratégique · [DATE]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0B2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D'où on part : Barbican par projet OpenStack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554480"/>
            <a:ext cx="2606040" cy="2743200"/>
          </a:xfrm>
          <a:prstGeom prst="rect">
            <a:avLst/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554480"/>
            <a:ext cx="2606040" cy="10972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2880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23317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actuel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31520" y="278892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projet OpenStack provisionne ses propres secrets via Barbican. Aucune instance dédiée mutualisée.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91840" y="1554480"/>
            <a:ext cx="2606040" cy="2743200"/>
          </a:xfrm>
          <a:prstGeom prst="rect">
            <a:avLst/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91840" y="1554480"/>
            <a:ext cx="2606040" cy="10972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82880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20440" y="23317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[À COMPLÉTER] projets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520440" y="278892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[N] projets OpenStack en production utilisent Barbican aujourd'hui, pour une volumétrie de l'ordre de [N] secrets.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080760" y="1554480"/>
            <a:ext cx="2606040" cy="2743200"/>
          </a:xfrm>
          <a:prstGeom prst="rect">
            <a:avLst/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080760" y="1554480"/>
            <a:ext cx="2606040" cy="10972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2880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09360" y="23317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 de vue consolidée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309360" y="278892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d'inventaire transverse, pas de politique commune, audit fragmenté projet par projet.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502920" y="486460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OpenBao centralisé · Pitch direction · Confidentiel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804672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0B2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CONSTAT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Barbican ne fait pas (assez)</a:t>
            </a:r>
            <a:endParaRPr lang="en-US" sz="2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 de MFA propre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60120" y="18288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Barbican s'appuie uniquement sur Keystone. Le MFA dépend du SSO en amont, hors périmètre Barbican.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600200"/>
            <a:ext cx="320040" cy="320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12064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 limité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5120640" y="18288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au niveau projet, pas d'audit applicatif standardisé sur les opérations sur secrets.</a:t>
            </a:r>
            <a:endParaRPr lang="en-US" sz="11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651760"/>
            <a:ext cx="320040" cy="3200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60120" y="2560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 de moteurs dynamiques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960120" y="28803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génération de credentials à la volée (DB, cloud, PKI). Un secret = un secret stocké, manuellement.</a:t>
            </a:r>
            <a:endParaRPr lang="en-US" sz="11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2651760"/>
            <a:ext cx="320040" cy="3200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120640" y="2560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Politique fragmentée</a:t>
            </a:r>
            <a:endParaRPr lang="en-US" sz="1400" dirty="0"/>
          </a:p>
        </p:txBody>
      </p:sp>
      <p:sp>
        <p:nvSpPr>
          <p:cNvPr id="16" name="Text 10"/>
          <p:cNvSpPr/>
          <p:nvPr/>
        </p:nvSpPr>
        <p:spPr>
          <a:xfrm>
            <a:off x="5120640" y="28803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projet définit son propre RBAC. Pas de politique de sécurité transverse applicable d'office.</a:t>
            </a:r>
            <a:endParaRPr lang="en-US" sz="11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703320"/>
            <a:ext cx="320040" cy="32004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960120" y="3611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Rotation manuelle</a:t>
            </a:r>
            <a:endParaRPr lang="en-US" sz="1400" dirty="0"/>
          </a:p>
        </p:txBody>
      </p:sp>
      <p:sp>
        <p:nvSpPr>
          <p:cNvPr id="19" name="Text 12"/>
          <p:cNvSpPr/>
          <p:nvPr/>
        </p:nvSpPr>
        <p:spPr>
          <a:xfrm>
            <a:off x="960120" y="39319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TTL ni de leasing natif. Les secrets vivent jusqu'à ce qu'on pense à les changer.</a:t>
            </a:r>
            <a:endParaRPr lang="en-US" sz="11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3703320"/>
            <a:ext cx="320040" cy="32004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120640" y="3611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 d'écosystème mature</a:t>
            </a:r>
            <a:endParaRPr lang="en-US" sz="1400" dirty="0"/>
          </a:p>
        </p:txBody>
      </p:sp>
      <p:sp>
        <p:nvSpPr>
          <p:cNvPr id="22" name="Text 14"/>
          <p:cNvSpPr/>
          <p:nvPr/>
        </p:nvSpPr>
        <p:spPr>
          <a:xfrm>
            <a:off x="5120640" y="39319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 d'intégrations applicatives modernes (CI/CD, Kubernetes, agents). Barbican reste un service interne OpenStack.</a:t>
            </a:r>
            <a:endParaRPr lang="en-US" sz="1100" dirty="0"/>
          </a:p>
        </p:txBody>
      </p:sp>
      <p:sp>
        <p:nvSpPr>
          <p:cNvPr id="23" name="Text 15"/>
          <p:cNvSpPr/>
          <p:nvPr/>
        </p:nvSpPr>
        <p:spPr>
          <a:xfrm>
            <a:off x="502920" y="486460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OpenBao centralisé · Pitch direction · Confidentiel</a:t>
            </a:r>
            <a:endParaRPr lang="en-US" sz="900" dirty="0"/>
          </a:p>
        </p:txBody>
      </p:sp>
      <p:sp>
        <p:nvSpPr>
          <p:cNvPr id="24" name="Text 16"/>
          <p:cNvSpPr/>
          <p:nvPr/>
        </p:nvSpPr>
        <p:spPr>
          <a:xfrm>
            <a:off x="804672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0B2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MAINTENANT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Trois forces qui rendent le statu quo intenable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554480"/>
            <a:ext cx="54864" cy="914400"/>
          </a:xfrm>
          <a:prstGeom prst="rect">
            <a:avLst/>
          </a:prstGeom>
          <a:solidFill>
            <a:srgbClr val="E0B254"/>
          </a:solidFill>
          <a:ln w="12700">
            <a:solidFill>
              <a:srgbClr val="E0B25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459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55448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Pression réglementaire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417320" y="19202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DORA, NIS2, ISO 27001 : exigent traçabilité, MFA, rotation. Difficile à démontrer sans gestionnaire de secrets dédié.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02920" y="2651760"/>
            <a:ext cx="54864" cy="914400"/>
          </a:xfrm>
          <a:prstGeom prst="rect">
            <a:avLst/>
          </a:prstGeom>
          <a:solidFill>
            <a:srgbClr val="E0B254"/>
          </a:solidFill>
          <a:ln w="12700">
            <a:solidFill>
              <a:srgbClr val="E0B25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4320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26517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Dette opérationnelle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417320" y="301752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coût de maintenir N silos Barbican (RBAC, backups, audits) croît plus vite que le périmètre. Pas de marge pour absorber un nouvel incident.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02920" y="3749040"/>
            <a:ext cx="54864" cy="914400"/>
          </a:xfrm>
          <a:prstGeom prst="rect">
            <a:avLst/>
          </a:prstGeom>
          <a:solidFill>
            <a:srgbClr val="E0B254"/>
          </a:solidFill>
          <a:ln w="12700">
            <a:solidFill>
              <a:srgbClr val="E0B254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84048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17320" y="374904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Maturité du marché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417320" y="411480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OpenBao (fork open-source de Vault, fondation Linux) est aujourd'hui mûr : LTS, communauté active, support commercial possible.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502920" y="486460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OpenBao centralisé · Pitch direction · Confidentiel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804672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E0B2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PROPOSITION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instance OpenBao centralisée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pour toute l'organisation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3108960"/>
            <a:ext cx="2606040" cy="1554480"/>
          </a:xfrm>
          <a:prstGeom prst="rect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29184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32918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B2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 +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914400" y="38862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MFA, audit applicatif, rotation auto, moteurs dynamiques.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29000" y="3108960"/>
            <a:ext cx="2606040" cy="1554480"/>
          </a:xfrm>
          <a:prstGeom prst="rect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329184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297680" y="32918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B2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Coût -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3703320" y="38862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instance HA mutualisée, pas N silos à exploiter.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217920" y="3108960"/>
            <a:ext cx="2606040" cy="1554480"/>
          </a:xfrm>
          <a:prstGeom prst="rect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329184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086600" y="32918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B2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Conformité +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6492240" y="38862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Politique transverse, RBAC fin par projet, traçabilité.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640080" y="48463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20 — Confidentiel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0B2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OpenBao en bref, vs Barbican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508760"/>
            <a:ext cx="384048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087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OpenBao centralisé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3749040" cy="24688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open-source de HashiCorp Vault, hébergé Linux Foundation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 Raft intégré, 3 nœuds HA, 1 leader + 2 standby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+ agents Kubernetes/CI prêts à l'emploi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natif (TOTP, Duo, Okta, PingID, Yubikey via PIV)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 applicatif, rotation, leases, dynamic secrets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508760"/>
            <a:ext cx="3840480" cy="50292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15087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Barbican par projet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46320" y="2148840"/>
            <a:ext cx="3749040" cy="24688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OpenStack, modèle de stockage de clés/secrets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instance par projet ou par groupe de projets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déléguée à Keystone (pas de MFA propre)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moteurs dynamiques — secrets statiques uniquement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fragmenté, pas de politique transverse opposable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6460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OpenBao centralisé · Pitch direction · Confidentiel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04672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0B2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Centraliser : un seul point de vérité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Avant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502920" cy="502920"/>
          </a:xfrm>
          <a:prstGeom prst="ellipse">
            <a:avLst/>
          </a:prstGeom>
          <a:solidFill>
            <a:srgbClr val="C84B31">
              <a:alpha val="30000"/>
            </a:srgbClr>
          </a:solidFill>
          <a:ln w="12700">
            <a:solidFill>
              <a:srgbClr val="C84B3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993392"/>
            <a:ext cx="274320" cy="2743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143000" y="1874520"/>
            <a:ext cx="502920" cy="502920"/>
          </a:xfrm>
          <a:prstGeom prst="ellipse">
            <a:avLst/>
          </a:prstGeom>
          <a:solidFill>
            <a:srgbClr val="C84B31">
              <a:alpha val="30000"/>
            </a:srgbClr>
          </a:solidFill>
          <a:ln w="12700">
            <a:solidFill>
              <a:srgbClr val="C84B3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872" y="1993392"/>
            <a:ext cx="274320" cy="274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1783080" y="1874520"/>
            <a:ext cx="502920" cy="502920"/>
          </a:xfrm>
          <a:prstGeom prst="ellipse">
            <a:avLst/>
          </a:prstGeom>
          <a:solidFill>
            <a:srgbClr val="C84B31">
              <a:alpha val="30000"/>
            </a:srgbClr>
          </a:solidFill>
          <a:ln w="12700">
            <a:solidFill>
              <a:srgbClr val="C84B31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1952" y="1993392"/>
            <a:ext cx="274320" cy="2743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02920" y="2514600"/>
            <a:ext cx="502920" cy="502920"/>
          </a:xfrm>
          <a:prstGeom prst="ellipse">
            <a:avLst/>
          </a:prstGeom>
          <a:solidFill>
            <a:srgbClr val="C84B31">
              <a:alpha val="30000"/>
            </a:srgbClr>
          </a:solidFill>
          <a:ln w="12700">
            <a:solidFill>
              <a:srgbClr val="C84B31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2633472"/>
            <a:ext cx="274320" cy="27432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1143000" y="2514600"/>
            <a:ext cx="502920" cy="502920"/>
          </a:xfrm>
          <a:prstGeom prst="ellipse">
            <a:avLst/>
          </a:prstGeom>
          <a:solidFill>
            <a:srgbClr val="C84B31">
              <a:alpha val="30000"/>
            </a:srgbClr>
          </a:solidFill>
          <a:ln w="12700">
            <a:solidFill>
              <a:srgbClr val="C84B31"/>
            </a:solidFill>
            <a:prstDash val="solid"/>
          </a:ln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1872" y="2633472"/>
            <a:ext cx="274320" cy="274320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1783080" y="2514600"/>
            <a:ext cx="502920" cy="502920"/>
          </a:xfrm>
          <a:prstGeom prst="ellipse">
            <a:avLst/>
          </a:prstGeom>
          <a:solidFill>
            <a:srgbClr val="C84B31">
              <a:alpha val="30000"/>
            </a:srgbClr>
          </a:solidFill>
          <a:ln w="12700">
            <a:solidFill>
              <a:srgbClr val="C84B31"/>
            </a:solidFill>
            <a:prstDash val="solid"/>
          </a:ln>
        </p:spPr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1952" y="2633472"/>
            <a:ext cx="274320" cy="27432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502920" y="32461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projets · N silos Barbican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politiques · N audits</a:t>
            </a:r>
            <a:endParaRPr lang="en-US" sz="1100" dirty="0"/>
          </a:p>
        </p:txBody>
      </p:sp>
      <p:sp>
        <p:nvSpPr>
          <p:cNvPr id="19" name="Shape 11"/>
          <p:cNvSpPr/>
          <p:nvPr/>
        </p:nvSpPr>
        <p:spPr>
          <a:xfrm>
            <a:off x="3108960" y="2468880"/>
            <a:ext cx="640080" cy="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2"/>
          <p:cNvSpPr/>
          <p:nvPr/>
        </p:nvSpPr>
        <p:spPr>
          <a:xfrm>
            <a:off x="3840480" y="1508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7C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Après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3840480" y="1828800"/>
            <a:ext cx="1280160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6240" y="2194560"/>
            <a:ext cx="548640" cy="54864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3840480" y="27889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OpenBao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centralisé</a:t>
            </a:r>
            <a:endParaRPr lang="en-US" sz="1100" dirty="0"/>
          </a:p>
        </p:txBody>
      </p:sp>
      <p:sp>
        <p:nvSpPr>
          <p:cNvPr id="24" name="Text 15"/>
          <p:cNvSpPr/>
          <p:nvPr/>
        </p:nvSpPr>
        <p:spPr>
          <a:xfrm>
            <a:off x="3840480" y="324612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instance HA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politique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audit</a:t>
            </a:r>
            <a:endParaRPr lang="en-US" sz="1100" dirty="0"/>
          </a:p>
        </p:txBody>
      </p:sp>
      <p:sp>
        <p:nvSpPr>
          <p:cNvPr id="25" name="Text 16"/>
          <p:cNvSpPr/>
          <p:nvPr/>
        </p:nvSpPr>
        <p:spPr>
          <a:xfrm>
            <a:off x="5669280" y="1554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Coût d'exploitation /</a:t>
            </a:r>
            <a:endParaRPr lang="en-US" sz="1400" dirty="0"/>
          </a:p>
        </p:txBody>
      </p:sp>
      <p:sp>
        <p:nvSpPr>
          <p:cNvPr id="26" name="Text 17"/>
          <p:cNvSpPr/>
          <p:nvPr/>
        </p:nvSpPr>
        <p:spPr>
          <a:xfrm>
            <a:off x="5669280" y="187452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équipe sécurité opère un service au lieu de N. Standardisation des sauvegardes, du monitoring, du PRA.</a:t>
            </a:r>
            <a:endParaRPr lang="en-US" sz="1100" dirty="0"/>
          </a:p>
        </p:txBody>
      </p:sp>
      <p:sp>
        <p:nvSpPr>
          <p:cNvPr id="27" name="Text 18"/>
          <p:cNvSpPr/>
          <p:nvPr/>
        </p:nvSpPr>
        <p:spPr>
          <a:xfrm>
            <a:off x="5669280" y="2514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Risque /</a:t>
            </a:r>
            <a:endParaRPr lang="en-US" sz="1400" dirty="0"/>
          </a:p>
        </p:txBody>
      </p:sp>
      <p:sp>
        <p:nvSpPr>
          <p:cNvPr id="28" name="Text 19"/>
          <p:cNvSpPr/>
          <p:nvPr/>
        </p:nvSpPr>
        <p:spPr>
          <a:xfrm>
            <a:off x="5669280" y="28346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surface à durcir, une seule politique à auditer, un seul plan de réponse incident.</a:t>
            </a:r>
            <a:endParaRPr lang="en-US" sz="1100" dirty="0"/>
          </a:p>
        </p:txBody>
      </p:sp>
      <p:sp>
        <p:nvSpPr>
          <p:cNvPr id="29" name="Text 20"/>
          <p:cNvSpPr/>
          <p:nvPr/>
        </p:nvSpPr>
        <p:spPr>
          <a:xfrm>
            <a:off x="5669280" y="34747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Time-to-secret \</a:t>
            </a:r>
            <a:endParaRPr lang="en-US" sz="1400" dirty="0"/>
          </a:p>
        </p:txBody>
      </p:sp>
      <p:sp>
        <p:nvSpPr>
          <p:cNvPr id="30" name="Text 21"/>
          <p:cNvSpPr/>
          <p:nvPr/>
        </p:nvSpPr>
        <p:spPr>
          <a:xfrm>
            <a:off x="5669280" y="37947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Provisioning d'un nouveau secret pour un projet en minutes, pas en jours (création d'instance, RBAC, backup, etc.).</a:t>
            </a:r>
            <a:endParaRPr lang="en-US" sz="1100" dirty="0"/>
          </a:p>
        </p:txBody>
      </p:sp>
      <p:sp>
        <p:nvSpPr>
          <p:cNvPr id="31" name="Text 22"/>
          <p:cNvSpPr/>
          <p:nvPr/>
        </p:nvSpPr>
        <p:spPr>
          <a:xfrm>
            <a:off x="502920" y="486460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OpenBao centralisé · Pitch direction · Confidentiel</a:t>
            </a:r>
            <a:endParaRPr lang="en-US" sz="900" dirty="0"/>
          </a:p>
        </p:txBody>
      </p:sp>
      <p:sp>
        <p:nvSpPr>
          <p:cNvPr id="32" name="Text 23"/>
          <p:cNvSpPr/>
          <p:nvPr/>
        </p:nvSpPr>
        <p:spPr>
          <a:xfrm>
            <a:off x="804672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0B2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 2 · DIFFÉRENCIATEUR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85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MFA natif sur les opérations sensibles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40233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554480"/>
            <a:ext cx="4023360" cy="50292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544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OpenBao</a:t>
            </a:r>
            <a:endParaRPr lang="en-US" sz="1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9456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2194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natif au niveau policy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2788920"/>
            <a:ext cx="3657600" cy="16916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TOTP intégré (Google Auth, Authy, Yubico)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Duo, Okta, PingID, OneLogin via plug-ins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déclenché par chemin / opération (login, write, delete)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Step-up auth : MFA seulement sur les secrets à valeur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709160" y="1554480"/>
            <a:ext cx="39319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9160" y="1554480"/>
            <a:ext cx="3931920" cy="502920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892040" y="15544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Barbican</a:t>
            </a:r>
            <a:endParaRPr lang="en-US" sz="16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19456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86400" y="2194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MFA propre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4892040" y="2788920"/>
            <a:ext cx="3657600" cy="16916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100 % déléguée à Keystone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possible uniquement si activé en amont sur le SSO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granularité par opération sur secret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step-up : tout passe ou rien ne passe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502920" y="4663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MFA sur les opérations admin / production devient une exigence DORA, NIS2 et ISO 27001 — démontrable nativement avec OpenBao.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4937760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20 — Confidentiel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0B2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Audit, traçabilité, démonstration de conformité</a:t>
            </a:r>
            <a:endParaRPr lang="en-US" sz="2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15544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 a lu/écrit/supprimé quel secret, quand, depuis où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60120" y="18745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OpenBao journalise chaque opération API avec entité, alias, IP, timestamp.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31720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60120" y="23317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 log non-répudiable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960120" y="26517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chaîné, écriture sur plusieurs sinks (file + syslog), lecture séparée des opérateurs.</a:t>
            </a:r>
            <a:endParaRPr lang="en-US" sz="11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108960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60120" y="3108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Tableaux de bord conformité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960120" y="34290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Métriques Prometheus exposées : nombre de secrets par moteur, dernière rotation, échecs MFA.</a:t>
            </a:r>
            <a:endParaRPr lang="en-US" sz="11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886200"/>
            <a:ext cx="365760" cy="3657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60120" y="38862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Politique transverse opposable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960120" y="42062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policy YAML versionnée, applicable à tous les projets — pas de dérive par silo.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6263640" y="1554480"/>
            <a:ext cx="2606040" cy="31089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691640"/>
            <a:ext cx="457200" cy="4572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949440" y="16916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B2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Couverture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E0B2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réglementaire</a:t>
            </a:r>
            <a:endParaRPr lang="en-US" sz="1400" dirty="0"/>
          </a:p>
        </p:txBody>
      </p:sp>
      <p:sp>
        <p:nvSpPr>
          <p:cNvPr id="20" name="Text 13"/>
          <p:cNvSpPr/>
          <p:nvPr/>
        </p:nvSpPr>
        <p:spPr>
          <a:xfrm>
            <a:off x="6400800" y="2468880"/>
            <a:ext cx="2331720" cy="20116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27001 A.9 / A.12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NIS2 art. 21 — gouvernance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— registre incidents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RGPD — accès aux secrets perso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PCI-DSS — rotation 90 j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502920" y="486460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OpenBao centralisé · Pitch direction · Confidentiel</a:t>
            </a:r>
            <a:endParaRPr lang="en-US" sz="900" dirty="0"/>
          </a:p>
        </p:txBody>
      </p:sp>
      <p:sp>
        <p:nvSpPr>
          <p:cNvPr id="22" name="Text 15"/>
          <p:cNvSpPr/>
          <p:nvPr/>
        </p:nvSpPr>
        <p:spPr>
          <a:xfrm>
            <a:off x="804672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0B2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Capacités fonctionnelles : ce qu'on débloque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554480"/>
            <a:ext cx="2606040" cy="1417320"/>
          </a:xfrm>
          <a:prstGeom prst="rect">
            <a:avLst/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554480"/>
            <a:ext cx="73152" cy="1417320"/>
          </a:xfrm>
          <a:prstGeom prst="rect">
            <a:avLst/>
          </a:prstGeom>
          <a:solidFill>
            <a:srgbClr val="E0B254"/>
          </a:solidFill>
          <a:ln w="12700">
            <a:solidFill>
              <a:srgbClr val="E0B25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19072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6916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Dynamic secrets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1488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 à la volée de credentials DB, cloud (AWS/GCP/OpenStack), PKI. TTL, rotation auto.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91840" y="1554480"/>
            <a:ext cx="2606040" cy="1417320"/>
          </a:xfrm>
          <a:prstGeom prst="rect">
            <a:avLst/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91840" y="1554480"/>
            <a:ext cx="73152" cy="1417320"/>
          </a:xfrm>
          <a:prstGeom prst="rect">
            <a:avLst/>
          </a:prstGeom>
          <a:solidFill>
            <a:srgbClr val="E0B254"/>
          </a:solidFill>
          <a:ln w="12700">
            <a:solidFill>
              <a:srgbClr val="E0B25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719072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977640" y="16916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PKI as a service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3520440" y="21488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Émission de certificats internes (mTLS, services), avec révocation et rotation pilotées.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080760" y="1554480"/>
            <a:ext cx="2606040" cy="1417320"/>
          </a:xfrm>
          <a:prstGeom prst="rect">
            <a:avLst/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080760" y="1554480"/>
            <a:ext cx="73152" cy="1417320"/>
          </a:xfrm>
          <a:prstGeom prst="rect">
            <a:avLst/>
          </a:prstGeom>
          <a:solidFill>
            <a:srgbClr val="E0B254"/>
          </a:solidFill>
          <a:ln w="12700">
            <a:solidFill>
              <a:srgbClr val="E0B254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19072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766560" y="16916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Transit / chiffrement à la demande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6309360" y="21488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de chiffrement-as-a-service : les apps n'ont jamais la clé, juste l'API.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02920" y="3108960"/>
            <a:ext cx="2606040" cy="1417320"/>
          </a:xfrm>
          <a:prstGeom prst="rect">
            <a:avLst/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502920" y="3108960"/>
            <a:ext cx="73152" cy="1417320"/>
          </a:xfrm>
          <a:prstGeom prst="rect">
            <a:avLst/>
          </a:prstGeom>
          <a:solidFill>
            <a:srgbClr val="E0B254"/>
          </a:solidFill>
          <a:ln w="12700">
            <a:solidFill>
              <a:srgbClr val="E0B25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273552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188720" y="32461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AppRole, JWT, Kubernetes auth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731520" y="37033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machine moderne : workloads K8s, jobs CI, services backend.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3291840" y="3108960"/>
            <a:ext cx="2606040" cy="1417320"/>
          </a:xfrm>
          <a:prstGeom prst="rect">
            <a:avLst/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3291840" y="3108960"/>
            <a:ext cx="73152" cy="1417320"/>
          </a:xfrm>
          <a:prstGeom prst="rect">
            <a:avLst/>
          </a:prstGeom>
          <a:solidFill>
            <a:srgbClr val="E0B254"/>
          </a:solidFill>
          <a:ln w="12700">
            <a:solidFill>
              <a:srgbClr val="E0B254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3273552"/>
            <a:ext cx="365760" cy="36576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977640" y="32461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Versioning des secrets (KV v2)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3520440" y="37033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Historique, rollback, métadonnées. Plus de "qui a changé ce secret il y a 3 mois ?".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6080760" y="3108960"/>
            <a:ext cx="2606040" cy="1417320"/>
          </a:xfrm>
          <a:prstGeom prst="rect">
            <a:avLst/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080760" y="3108960"/>
            <a:ext cx="73152" cy="1417320"/>
          </a:xfrm>
          <a:prstGeom prst="rect">
            <a:avLst/>
          </a:prstGeom>
          <a:solidFill>
            <a:srgbClr val="E0B254"/>
          </a:solidFill>
          <a:ln w="12700">
            <a:solidFill>
              <a:srgbClr val="E0B254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3273552"/>
            <a:ext cx="365760" cy="36576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766560" y="32461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Écosystème Vault-compatible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6309360" y="37033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Compatibilité API Vault : agents, providers Terraform, opérateurs K8s, librairies SDK.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502920" y="486460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OpenBao centralisé · Pitch direction · Confidentiel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804672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0B2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COMPARATIF DÉTAILLÉ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OpenBao vs Barbican, ligne à ligne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08760"/>
          <a:ext cx="8229600" cy="3063240"/>
        </p:xfrm>
        <a:graphic>
          <a:graphicData uri="http://schemas.openxmlformats.org/drawingml/2006/table">
            <a:tbl>
              <a:tblPr/>
              <a:tblGrid>
                <a:gridCol w="3200400"/>
                <a:gridCol w="2514600"/>
                <a:gridCol w="2514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Critère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OpenBao centralisé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Barbican par projet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MFA natif sur opération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A7C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84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log applicatif chaîné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A7C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84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secrets (DB, cloud, PKI)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A7C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84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/ TTL / leasing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A7C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84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Politique transverse versionnée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A7C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84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Intégration K8s / CI / Terraform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A7C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84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 utilisateur (UI)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A7C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via Horizon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Coûts d'exploitation par projet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A7C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mutualisés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4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nb projets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486460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OpenBao centralisé · Pitch direction · Confidentiel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04672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0B2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PAS UNE INSTANCE PAR PROJET ?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piège de la duplication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508760"/>
            <a:ext cx="4023360" cy="3108960"/>
          </a:xfrm>
          <a:prstGeom prst="rect">
            <a:avLst/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508760"/>
            <a:ext cx="4023360" cy="45720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 instances par projet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103120"/>
            <a:ext cx="3703320" cy="24231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d'exploitation × N (HA, backups, monitoring, PRA)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fragmenté : impossible d'opposer une politique groupe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dispersé : N journaux à corréler en cas d'incident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sécurité × N : N surfaces à patcher, à auditer, à durcir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mutualisation des moteurs (PKI, transit, dynamic)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portabilité d'identité entre projets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508760"/>
            <a:ext cx="4023360" cy="3108960"/>
          </a:xfrm>
          <a:prstGeom prst="rect">
            <a:avLst/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508760"/>
            <a:ext cx="402336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5087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instance centralisée + namespaces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37760" y="2103120"/>
            <a:ext cx="3703320" cy="24231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logique par namespace / mount path par projet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Politiques RBAC héritées + spécifiques, versionnées en Git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équipe sécurité opère un service au lieu de N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unique, corrélation immédiate, conformité démontrable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Mutualisation des moteurs (PKI, transit, K8s) → ROI rapide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Identité portable : un workload peut servir plusieurs projets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486460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OpenBao centralisé · Pitch direction · Confidentiel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04672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0B2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SUR 3 ANS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Ordre de grandeur — chiffres internes à compléter</a:t>
            </a:r>
            <a:endParaRPr lang="en-US" sz="2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554480"/>
          <a:ext cx="51206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852160" y="1554480"/>
            <a:ext cx="3017520" cy="3017520"/>
          </a:xfrm>
          <a:prstGeom prst="rect">
            <a:avLst/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691640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46520" y="1691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Postes de coût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989320" y="2194560"/>
            <a:ext cx="2743200" cy="22860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(3 VMs HA mutualisées vs N instances)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 chiffré + sauvegardes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d'opération équipe sécurité (FTE)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 de conformité externes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 (probabilité × coût moyen)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50292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[À CHIFFRER] avec contrôle de gestion : N projets × coût annuel actuel d'un silo Barbican vs build + run d'une plateforme HA mutualisée.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86460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OpenBao centralisé · Pitch direction · Confidentiel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04672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0B2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ÉVITÉS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qu'on protège en consolidant</a:t>
            </a:r>
            <a:endParaRPr lang="en-US" sz="2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15544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Fuite de secret par silo non audité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60120" y="187452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 : un secret oublié dans un projet inactif est invisible. Demain : un seul endroit à scanner, à monitorer, à révoquer.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0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60120" y="22860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Non-conformité au prochain audit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960120" y="26060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Difficile de démontrer MFA + rotation + traçabilité avec N silos hétérogènes. Risque : non-conformité ISO, NIS2, DORA.</a:t>
            </a:r>
            <a:endParaRPr lang="en-US" sz="11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017520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60120" y="30175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Indisponibilité d'un projet critique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960120" y="33375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instance Barbican projet en panne = downtime du projet. Cluster OpenBao 3 nœuds HA = tolérance perte d'1 nœud sans interruption.</a:t>
            </a:r>
            <a:endParaRPr lang="en-US" sz="11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749040"/>
            <a:ext cx="365760" cy="3657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60120" y="3749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Dépendance à une compétence rare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960120" y="40690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Barbican est peu maintenu hors OpenStack pur. OpenBao a une communauté Vault massive : recrutement, formation, partenaires plus simples.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502920" y="486460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OpenBao centralisé · Pitch direction · Confidentiel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804672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0B2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Migration en 4 phases · ~6 mois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005840" y="1645920"/>
            <a:ext cx="640080" cy="64008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E0B2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B2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283464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OpenBao 3 nœuds HA, PKI interne, sauvegardes, MFA, intégration SSO.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94560" y="1965960"/>
            <a:ext cx="365760" cy="0"/>
          </a:xfrm>
          <a:prstGeom prst="line">
            <a:avLst/>
          </a:prstGeom>
          <a:noFill/>
          <a:ln w="25400">
            <a:solidFill>
              <a:srgbClr val="E0B25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108960" y="1645920"/>
            <a:ext cx="640080" cy="64008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E0B2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0896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B2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606040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06040" y="283464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à 2 projets pilotes : double-écriture Barbican + OpenBao, validation gouvernance.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97680" y="1965960"/>
            <a:ext cx="365760" cy="0"/>
          </a:xfrm>
          <a:prstGeom prst="line">
            <a:avLst/>
          </a:prstGeom>
          <a:noFill/>
          <a:ln w="25400">
            <a:solidFill>
              <a:srgbClr val="E0B25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212080" y="1645920"/>
            <a:ext cx="640080" cy="64008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E0B2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B2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709160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Migration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709160" y="283464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Bascule projet par projet : provisioning des secrets, switch des apps, retrait Barbican.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0" y="1965960"/>
            <a:ext cx="365760" cy="0"/>
          </a:xfrm>
          <a:prstGeom prst="line">
            <a:avLst/>
          </a:prstGeom>
          <a:noFill/>
          <a:ln w="25400">
            <a:solidFill>
              <a:srgbClr val="E0B25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315200" y="1645920"/>
            <a:ext cx="640080" cy="64008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E0B2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B2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812280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Sortie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12280" y="283464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Arrêt des silos Barbican projet, réutilisation des ressources, audit final de décommissionnement.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Hypothèse : ~6 mois calendaires, équipe projet 2 ETP sécu + 1 ETP infra. Phases recouvrantes possibles.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" y="486460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OpenBao centralisé · Pitch direction · Confidentiel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04672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0B2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CIBLE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OpenBao HA mono-DC OpenStack, 3 AZ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0" y="1554480"/>
            <a:ext cx="1828800" cy="548640"/>
          </a:xfrm>
          <a:prstGeom prst="ellipse">
            <a:avLst/>
          </a:prstGeom>
          <a:solidFill>
            <a:srgbClr val="4A7C59">
              <a:alpha val="70000"/>
            </a:srgbClr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1554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 IP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vip-bao.intra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286000" y="2377440"/>
            <a:ext cx="182880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286000" y="23774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HAProxy ha-1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0" y="2377440"/>
            <a:ext cx="182880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0" y="23774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HAProxy ha-2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4400" y="3291840"/>
            <a:ext cx="1828800" cy="640080"/>
          </a:xfrm>
          <a:prstGeom prst="rect">
            <a:avLst/>
          </a:prstGeom>
          <a:solidFill>
            <a:srgbClr val="E0B254">
              <a:alpha val="70000"/>
            </a:srgbClr>
          </a:solidFill>
          <a:ln w="12700">
            <a:solidFill>
              <a:srgbClr val="E0B25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3429000"/>
            <a:ext cx="365760" cy="36576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63040" y="32918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bao-node-1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657600" y="3291840"/>
            <a:ext cx="1828800" cy="640080"/>
          </a:xfrm>
          <a:prstGeom prst="rect">
            <a:avLst/>
          </a:prstGeom>
          <a:solidFill>
            <a:srgbClr val="E0B254">
              <a:alpha val="70000"/>
            </a:srgbClr>
          </a:solidFill>
          <a:ln w="12700">
            <a:solidFill>
              <a:srgbClr val="E0B25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3429000"/>
            <a:ext cx="365760" cy="36576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206240" y="32918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bao-node-2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400800" y="3291840"/>
            <a:ext cx="1828800" cy="640080"/>
          </a:xfrm>
          <a:prstGeom prst="rect">
            <a:avLst/>
          </a:prstGeom>
          <a:solidFill>
            <a:srgbClr val="E0B254">
              <a:alpha val="70000"/>
            </a:srgbClr>
          </a:solidFill>
          <a:ln w="12700">
            <a:solidFill>
              <a:srgbClr val="E0B25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342900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949440" y="32918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bao-node-3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914400" y="4023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AZ-1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3657600" y="4023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AZ-2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6400800" y="4023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AZ-3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50292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· 3 nœuds Raft · 1 leader + 2 standby · tolérance perte d'1 AZ · TLS 1.3 + mTLS Raft · audit log chaîné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502920" y="486460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OpenBao centralisé · Pitch direction · Confidentiel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804672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0B2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 détient quoi, qui valide quoi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554480"/>
            <a:ext cx="54864" cy="548640"/>
          </a:xfrm>
          <a:prstGeom prst="rect">
            <a:avLst/>
          </a:prstGeom>
          <a:solidFill>
            <a:srgbClr val="E0B254"/>
          </a:solidFill>
          <a:ln w="12700">
            <a:solidFill>
              <a:srgbClr val="E0B2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54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Direction sécurité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520440" y="15544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Propriétaire du service. Valide la politique transverse, les exceptions, les MFA obligatoires.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194560"/>
            <a:ext cx="54864" cy="548640"/>
          </a:xfrm>
          <a:prstGeom prst="rect">
            <a:avLst/>
          </a:prstGeom>
          <a:solidFill>
            <a:srgbClr val="E0B254"/>
          </a:solidFill>
          <a:ln w="12700">
            <a:solidFill>
              <a:srgbClr val="E0B2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Équipe plateforme (run)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520440" y="219456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Opère le cluster HA : sauvegardes, patches, supervision. N'a pas accès aux secrets en clair.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834640"/>
            <a:ext cx="54864" cy="548640"/>
          </a:xfrm>
          <a:prstGeom prst="rect">
            <a:avLst/>
          </a:prstGeom>
          <a:solidFill>
            <a:srgbClr val="E0B254"/>
          </a:solidFill>
          <a:ln w="12700">
            <a:solidFill>
              <a:srgbClr val="E0B2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8346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Référent par projet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20440" y="28346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 ses chemins de secrets (namespace), ses applications, ses politiques projet.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474720"/>
            <a:ext cx="54864" cy="548640"/>
          </a:xfrm>
          <a:prstGeom prst="rect">
            <a:avLst/>
          </a:prstGeom>
          <a:solidFill>
            <a:srgbClr val="E0B254"/>
          </a:solidFill>
          <a:ln w="12700">
            <a:solidFill>
              <a:srgbClr val="E0B2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4747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Auditeurs internes/externes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0440" y="347472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lecture seule à l'audit log et aux métriques de conformité.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4114800"/>
            <a:ext cx="54864" cy="548640"/>
          </a:xfrm>
          <a:prstGeom prst="rect">
            <a:avLst/>
          </a:prstGeom>
          <a:solidFill>
            <a:srgbClr val="E0B254"/>
          </a:solidFill>
          <a:ln w="12700">
            <a:solidFill>
              <a:srgbClr val="E0B2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41148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Comité de gestion des clés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520440" y="411480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personnes désignées détiennent les unseal keys Shamir, ne se réunissent qu'aux cérémonies critiques.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486460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OpenBao centralisé · Pitch direction · Confidentiel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04672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0B2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MISE EN ŒUVRE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Engagements et jalons</a:t>
            </a:r>
            <a:endParaRPr lang="en-US" sz="2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08760"/>
          <a:ext cx="8229600" cy="3017520"/>
        </p:xfrm>
        <a:graphic>
          <a:graphicData uri="http://schemas.openxmlformats.org/drawingml/2006/table">
            <a:tbl>
              <a:tblPr/>
              <a:tblGrid>
                <a:gridCol w="1280160"/>
                <a:gridCol w="3657600"/>
                <a:gridCol w="146304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Jalon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Délivrable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Délai cible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Décision attendue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budget + équipe projet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Aujourd'hui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CFO + DSI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J+1 mois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 OpenBao HA déployé en pré-prod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M+1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Direction sécu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J+2 mois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MFA + audit + sauvegardes validés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M+2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Auditeurs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J+3 mois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Pilote 2 projets en double-écriture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M+3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Référents projet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J+5 mois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Migration 80 % du parc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M+5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J+6 mois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Décommissionnement Barbican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M+6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Direction sécu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486460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OpenBao centralisé · Pitch direction · Confidentiel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04672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E0B2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 ATTENDUE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960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Validez le lancement du projet OpenBao centralisé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2194560"/>
            <a:ext cx="54864" cy="640080"/>
          </a:xfrm>
          <a:prstGeom prst="rect">
            <a:avLst/>
          </a:prstGeom>
          <a:solidFill>
            <a:srgbClr val="E0B254"/>
          </a:solidFill>
          <a:ln w="12700">
            <a:solidFill>
              <a:srgbClr val="E0B2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19456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B2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Budget projet 6 mois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51460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+ run mutualisé · ETP sécu + infra · matériel HA · prestation accompagnement ([À COMPLÉTER] k€).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2971800"/>
            <a:ext cx="54864" cy="640080"/>
          </a:xfrm>
          <a:prstGeom prst="rect">
            <a:avLst/>
          </a:prstGeom>
          <a:solidFill>
            <a:srgbClr val="E0B254"/>
          </a:solidFill>
          <a:ln w="12700">
            <a:solidFill>
              <a:srgbClr val="E0B2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97180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B2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Mandat gouvernance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de la politique transverse de gestion des secrets, et de l'arrêt à terme des Barbican projet.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3749040"/>
            <a:ext cx="54864" cy="640080"/>
          </a:xfrm>
          <a:prstGeom prst="rect">
            <a:avLst/>
          </a:prstGeom>
          <a:solidFill>
            <a:srgbClr val="E0B254"/>
          </a:solidFill>
          <a:ln w="12700">
            <a:solidFill>
              <a:srgbClr val="E0B2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74904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B2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Sponsoring exécutif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406908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voix au COMEX pour porter le projet auprès des directions métier (migration progressive).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Bénéfice attendu : un service de secrets sécurisé, conforme, mutualisé — démontrable au prochain audit.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493776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 — Confidentiel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0B2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ANNEXES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Pour aller plus loin &amp; questions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Annexes disponibles sur demande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1920240"/>
            <a:ext cx="5212080" cy="24688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détaillée HA + bascule Floating IP Neutron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PRA et procédure de restauration Raft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Politique de gestion des unseal keys (modèle Shamir 5/3)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Comparatif fonctionnel exhaustif OpenBao / Vault / Barbican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conformité (ISO 27001, NIS2, DORA, RGPD)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Estimation budgétaire détaillée (CAPEX + OPEX 3 ans)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89320" y="1554480"/>
            <a:ext cx="2834640" cy="2926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89320" y="17830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0B2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 &amp; A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989320" y="26060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989320" y="3886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 · titre · contact]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486460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OpenBao centralisé · Pitch direction · Confidentiel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04672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OpenBao centralisé vs Barbican projet — pitch direction</dc:title>
  <dc:subject>PptxGenJS Presentation</dc:subject>
  <dc:creator>DSI / Sécurité</dc:creator>
  <cp:lastModifiedBy>DSI / Sécurité</cp:lastModifiedBy>
  <cp:revision>1</cp:revision>
  <dcterms:created xsi:type="dcterms:W3CDTF">2026-04-28T16:25:54Z</dcterms:created>
  <dcterms:modified xsi:type="dcterms:W3CDTF">2026-04-28T16:25:54Z</dcterms:modified>
</cp:coreProperties>
</file>