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Coût d'exploitation total (base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Barbican par projet (silo)</c:v>
                </c:pt>
              </c:strCache>
            </c:strRef>
          </c:tx>
          <c:spPr>
            <a:solidFill>
              <a:srgbClr val="C84B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OpenBao centralisé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50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· SÉCURITÉ DES SECRETS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Centraliser la gestion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secrets sur OpenBao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d'une gestion fragmentée par projet sur Barbican, réduire le risque, professionnaliser l'audit, ouvrir le MFA.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480560"/>
            <a:ext cx="45720" cy="36576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à la Direction Financière &amp; Stratégique ·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D'où on part : Barbican par projet OpenStack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27432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260604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actuel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projet OpenStack provisionne ses propres secrets via Barbican. Aucune instance dédiée mutualisée.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06040" cy="27432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554480"/>
            <a:ext cx="260604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288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[À COMPLÉTER] projets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2044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[N] projets OpenStack en production utilisent Barbican aujourd'hui, pour une volumétrie de l'ordre de [N] secrets.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1554480"/>
            <a:ext cx="2606040" cy="27432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554480"/>
            <a:ext cx="260604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vue consolidée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0936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d'inventaire transverse, pas de politique commune, audit fragmenté projet par projet.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Barbican ne fait pas (assez)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MFA propre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Barbican s'appuie uniquement sur Keystone. Le MFA dépend du SSO en amont, hors périmètre Barbican.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limité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2064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au niveau projet, pas d'audit applicatif standardisé sur les opérations sur secrets.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51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moteurs dynamiques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60120" y="2880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génération de credentials à la volée (DB, cloud, PKI). Un secret = un secret stocké, manuellement.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6517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2064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Politique fragmentée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120640" y="2880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projet définit son propre RBAC. Pas de politique de sécurité transverse applicable d'office.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03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 manuelle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96012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TTL ni de leasing natif. Les secrets vivent jusqu'à ce qu'on pense à les changer.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703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d'écosystème mature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12064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d'intégrations applicatives modernes (CI/CD, Kubernetes, agents). Barbican reste un service interne OpenStack.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forces qui rendent le statu quo intenable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4864" cy="91440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Pression réglementaire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17320" y="1920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DORA, NIS2, ISO 27001 : exigent traçabilité, MFA, rotation. Difficile à démontrer sans gestionnaire de secrets dédié.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651760"/>
            <a:ext cx="54864" cy="91440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51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Dette opérationnelle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17320" y="3017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maintenir N silos Barbican (RBAC, backups, audits) croît plus vite que le périmètre. Pas de marge pour absorber un nouvel incident.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3749040"/>
            <a:ext cx="54864" cy="91440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749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Maturité du marché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41732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(fork open-source de Vault, fondation Linux) est aujourd'hui mûr : LTS, communauté active, support commercial possible.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instance OpenBao centralisée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toute l'organisation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26060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91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+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audit applicatif, rotation auto, moteurs dynamiques.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3108960"/>
            <a:ext cx="26060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2918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768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Coût -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703320" y="3886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instance HA mutualisée, pas N silos à exploiter.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3108960"/>
            <a:ext cx="26060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918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Conformité +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92240" y="3886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transverse, RBAC fin par projet, traçabilité.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 —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 en bref, vs Barbican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840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 centralisé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749040" cy="2468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open-source de HashiCorp Vault, hébergé Linux Foundation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Raft intégré, 3 nœuds HA, 1 leader + 2 standby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agents Kubernetes/CI prêts à l'emploi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natif (TOTP, Duo, Okta, PingID, Yubikey via PIV)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applicatif, rotation, leases, dynamic secrets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84048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Barbican par projet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148840"/>
            <a:ext cx="3749040" cy="2468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OpenStack, modèle de stockage de clés/secrets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instance par projet ou par groupe de projets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déléguée à Keystone (pas de MFA propre)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moteurs dynamiques — secrets statiques uniquement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fragmenté, pas de politique transverse opposable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Centraliser : un seul point de vérité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02920" cy="502920"/>
          </a:xfrm>
          <a:prstGeom prst="ellipse">
            <a:avLst/>
          </a:prstGeom>
          <a:solidFill>
            <a:srgbClr val="C84B31">
              <a:alpha val="30000"/>
            </a:srgbClr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93392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43000" y="1874520"/>
            <a:ext cx="502920" cy="502920"/>
          </a:xfrm>
          <a:prstGeom prst="ellipse">
            <a:avLst/>
          </a:prstGeom>
          <a:solidFill>
            <a:srgbClr val="C84B31">
              <a:alpha val="30000"/>
            </a:srgbClr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993392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783080" y="1874520"/>
            <a:ext cx="502920" cy="502920"/>
          </a:xfrm>
          <a:prstGeom prst="ellipse">
            <a:avLst/>
          </a:prstGeom>
          <a:solidFill>
            <a:srgbClr val="C84B31">
              <a:alpha val="30000"/>
            </a:srgbClr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1993392"/>
            <a:ext cx="274320" cy="274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02920" y="2514600"/>
            <a:ext cx="502920" cy="502920"/>
          </a:xfrm>
          <a:prstGeom prst="ellipse">
            <a:avLst/>
          </a:prstGeom>
          <a:solidFill>
            <a:srgbClr val="C84B31">
              <a:alpha val="30000"/>
            </a:srgbClr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633472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143000" y="2514600"/>
            <a:ext cx="502920" cy="502920"/>
          </a:xfrm>
          <a:prstGeom prst="ellipse">
            <a:avLst/>
          </a:prstGeom>
          <a:solidFill>
            <a:srgbClr val="C84B31">
              <a:alpha val="30000"/>
            </a:srgbClr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2633472"/>
            <a:ext cx="274320" cy="27432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783080" y="2514600"/>
            <a:ext cx="502920" cy="502920"/>
          </a:xfrm>
          <a:prstGeom prst="ellipse">
            <a:avLst/>
          </a:prstGeom>
          <a:solidFill>
            <a:srgbClr val="C84B31">
              <a:alpha val="30000"/>
            </a:srgbClr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1952" y="2633472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292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projets · N silos Barbican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politiques · N audits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108960" y="2468880"/>
            <a:ext cx="64008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2"/>
          <p:cNvSpPr/>
          <p:nvPr/>
        </p:nvSpPr>
        <p:spPr>
          <a:xfrm>
            <a:off x="384048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Après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3840480" y="1828800"/>
            <a:ext cx="12801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2194560"/>
            <a:ext cx="548640" cy="5486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84048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3840480" y="3246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instance HA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politique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audit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566928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Coût d'exploitation /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669280" y="1874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sécurité opère un service au lieu de N. Standardisation des sauvegardes, du monitoring, du PRA.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566928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 /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5669280" y="2834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surface à durcir, une seule politique à auditer, un seul plan de réponse incident.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66928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Time-to-secret \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669280" y="3794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d'un nouveau secret pour un projet en minutes, pas en jours (création d'instance, RBAC, backup, etc.).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2 · DIFFÉRENCIATEUR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MFA natif sur les opérations sensibles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4023360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94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natif au niveau policy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intégré (Google Auth, Authy, Yubico)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Duo, Okta, PingID, OneLogin via plug-ins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déclenché par chemin / opération (login, write, delete)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 : MFA seulement sur les secrets à valeur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554480"/>
            <a:ext cx="3931920" cy="5029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Barbican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94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MFA propre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100 % déléguée à Keystone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possible uniquement si activé en amont sur le SSO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granularité par opération sur secret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step-up : tout passe ou rien ne passe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MFA sur les opérations admin / production devient une exigence DORA, NIS2 et ISO 27001 — démontrable nativement avec OpenBao.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49377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 —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Audit, traçabilité, démonstration de conformité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a lu/écrit/supprimé quel secret, quand, depuis où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journalise chaque opération API avec entité, alias, IP, timestamp.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31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 non-répudiable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6012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chaîné, écriture sur plusieurs sinks (file + syslog), lecture séparée des opérateurs.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089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Tableaux de bord conformité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60120" y="3429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Prometheus exposées : nombre de secrets par moteur, dernière rotation, échecs MFA.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862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Politique transverse opposable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96012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policy YAML versionnée, applicable à tous les projets — pas de dérive par silo.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263640" y="1554480"/>
            <a:ext cx="2606040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9164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Couverture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réglementaire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400800" y="2468880"/>
            <a:ext cx="2331720" cy="2011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A.9 / A.12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art. 21 — gouvernance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— registre incidents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— accès aux secrets perso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— rotation 90 j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Capacités fonctionnelles : ce qu'on débloque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73152" cy="14173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190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secrets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à la volée de credentials DB, cloud (AWS/GCP/OpenStack), PKI. TTL, rotation auto.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0604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554480"/>
            <a:ext cx="73152" cy="14173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1907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PKI as a service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de certificats internes (mTLS, services), avec révocation et rotation pilotées.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554480"/>
            <a:ext cx="260604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0760" y="1554480"/>
            <a:ext cx="73152" cy="14173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190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 / chiffrement à la demande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 chiffrement-as-a-service : les apps n'ont jamais la clé, juste l'API.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108960"/>
            <a:ext cx="260604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" y="3108960"/>
            <a:ext cx="73152" cy="14173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735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AppRole, JWT, Kubernetes auth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15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machine moderne : workloads K8s, jobs CI, services backend.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91840" y="3108960"/>
            <a:ext cx="260604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91840" y="3108960"/>
            <a:ext cx="73152" cy="14173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7355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Versioning des secrets (KV v2)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52044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Historique, rollback, métadonnées. Plus de "qui a changé ce secret il y a 3 mois ?".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80760" y="3108960"/>
            <a:ext cx="260604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80760" y="3108960"/>
            <a:ext cx="73152" cy="14173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7355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Écosystème Vault-compatible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0936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API Vault : agents, providers Terraform, opérateurs K8s, librairies SDK.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DÉTAILLÉ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 vs Barbican, ligne à ligne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229600" cy="306324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Critère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OpenBao centralisé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Barbican par projet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natif sur opération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applicatif chaîné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secrets (DB, cloud, PKI)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/ TTL / leasing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Politique transverse versionnée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K8s / CI / Terraform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utilisateur (UI)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Horizon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Coûts d'exploitation par projet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mutualisés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nb projets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PAS UNE INSTANCE PAR PROJET 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piège de la duplication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4023360" cy="31089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402336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instances par projet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703320" cy="2423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d'exploitation × N (HA, backups, monitoring, PRA)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fragmenté : impossible d'opposer une politique groupe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dispersé : N journaux à corréler en cas d'incident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sécurité × N : N surfaces à patcher, à auditer, à durcir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mutualisation des moteurs (PKI, transit, dynamic)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portabilité d'identité entre projets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023360" cy="31089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0876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instance centralisée + namespaces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703320" cy="2423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logique par namespace / mount path par projet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RBAC héritées + spécifiques, versionnées en Git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sécurité opère un service au lieu de 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unique, corrélation immédiate, conformité démontrable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Mutualisation des moteurs (PKI, transit, K8s) → ROI rapide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portable : un workload peut servir plusieurs projets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SUR 3 ANS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Ordre de grandeur — chiffres internes à compléter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554480"/>
            <a:ext cx="3017520" cy="30175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652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Postes de coût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89320" y="2194560"/>
            <a:ext cx="2743200" cy="2286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(3 VMs HA mutualisées vs N instances)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chiffré + sauvegardes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d'opération équipe sécurité (FTE)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de conformité externes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(probabilité × coût moyen)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CHIFFRER] avec contrôle de gestion : N projets × coût annuel actuel d'un silo Barbican vs build + run d'une plateforme HA mutualisée.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ÉVITÉS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protège en consolidant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554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Fuite de secret par silo non audité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874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un secret oublié dans un projet inactif est invisible. Demain : un seul endroit à scanner, à monitorer, à révoquer.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Non-conformité au prochain audit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6012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de démontrer MFA + rotation + traçabilité avec N silos hétérogènes. Risque : non-conformité ISO, NIS2, DORA.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175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Indisponibilité d'un projet critique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6012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instance Barbican projet en panne = downtime du projet. Cluster OpenBao 3 nœuds HA = tolérance perte d'1 nœud sans interruption.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4904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Dépendance à une compétence rare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960120" y="4069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Barbican est peu maintenu hors OpenStack pur. OpenBao a une communauté Vault massive : recrutement, formation, partenaires plus simples.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en 4 phases · ~6 mois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E0B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OpenBao 3 nœuds HA, PKI interne, sauvegardes, MFA, intégration SSO.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965960"/>
            <a:ext cx="365760" cy="0"/>
          </a:xfrm>
          <a:prstGeom prst="line">
            <a:avLst/>
          </a:prstGeom>
          <a:noFill/>
          <a:ln w="25400">
            <a:solidFill>
              <a:srgbClr val="E0B25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164592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E0B2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0604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2 projets pilotes : double-écriture Barbican + OpenBao, validation gouvernance.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965960"/>
            <a:ext cx="365760" cy="0"/>
          </a:xfrm>
          <a:prstGeom prst="line">
            <a:avLst/>
          </a:prstGeom>
          <a:noFill/>
          <a:ln w="25400">
            <a:solidFill>
              <a:srgbClr val="E0B25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164592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E0B2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091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projet par projet : provisioning des secrets, switch des apps, retrait Barbican.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965960"/>
            <a:ext cx="365760" cy="0"/>
          </a:xfrm>
          <a:prstGeom prst="line">
            <a:avLst/>
          </a:prstGeom>
          <a:noFill/>
          <a:ln w="25400">
            <a:solidFill>
              <a:srgbClr val="E0B25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164592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E0B2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122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des silos Barbican projet, réutilisation des ressources, audit final de décommissionnement.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: ~6 mois calendaires, équipe projet 2 ETP sécu + 1 ETP infra. Phases recouvrantes possibles.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 HA mono-DC OpenStack, 3 AZ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1554480"/>
            <a:ext cx="1828800" cy="548640"/>
          </a:xfrm>
          <a:prstGeom prst="ellipse">
            <a:avLst/>
          </a:prstGeom>
          <a:solidFill>
            <a:srgbClr val="4A7C59">
              <a:alpha val="70000"/>
            </a:srgbClr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vip-bao.intra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1828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ha-1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2377440"/>
            <a:ext cx="1828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ha-2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1828800" cy="640080"/>
          </a:xfrm>
          <a:prstGeom prst="rect">
            <a:avLst/>
          </a:prstGeom>
          <a:solidFill>
            <a:srgbClr val="E0B254">
              <a:alpha val="70000"/>
            </a:srgbClr>
          </a:solidFill>
          <a:ln w="12700">
            <a:solidFill>
              <a:srgbClr val="E0B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2900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3291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bao-node-1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0" y="3291840"/>
            <a:ext cx="1828800" cy="640080"/>
          </a:xfrm>
          <a:prstGeom prst="rect">
            <a:avLst/>
          </a:prstGeom>
          <a:solidFill>
            <a:srgbClr val="E0B254">
              <a:alpha val="70000"/>
            </a:srgbClr>
          </a:solidFill>
          <a:ln w="12700">
            <a:solidFill>
              <a:srgbClr val="E0B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4290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06240" y="3291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bao-node-2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0" y="3291840"/>
            <a:ext cx="1828800" cy="640080"/>
          </a:xfrm>
          <a:prstGeom prst="rect">
            <a:avLst/>
          </a:prstGeom>
          <a:solidFill>
            <a:srgbClr val="E0B254">
              <a:alpha val="70000"/>
            </a:srgbClr>
          </a:solidFill>
          <a:ln w="12700">
            <a:solidFill>
              <a:srgbClr val="E0B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429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9440" y="3291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bao-node-3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44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6576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008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· 3 nœuds Raft · 1 leader + 2 standby · tolérance perte d'1 AZ · TLS 1.3 + mTLS Raft · audit log chaîné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détient quoi, qui valide quoi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4864" cy="54864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 sécurité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20440" y="1554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 du service. Valide la politique transverse, les exceptions, les MFA obligatoires.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4864" cy="54864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Équipe plateforme (run)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1945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Opère le cluster HA : sauvegardes, patches, supervision. N'a pas accès aux secrets en clair.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54864" cy="54864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Référent par projet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ses chemins de secrets (namespace), ses applications, ses politiques projet.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54864" cy="54864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Auditeurs internes/externes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lecture seule à l'audit log et aux métriques de conformité.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54864" cy="54864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Comité de gestion des clés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4114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personnes désignées détiennent les unseal keys Shamir, ne se réunissent qu'aux cérémonies critiques.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MISE EN ŒUVRE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Engagements et jalons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229600" cy="301752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  <a:gridCol w="146304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Jalon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Délivrable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Délai cible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Décision attendue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budget + équipe projet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Aujourd'hui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+ DSI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J+1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OpenBao HA déployé en pré-prod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sécu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J+2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+ audit + sauvegardes validés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J+3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Pilote 2 projets en double-écriture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Référents projet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J+5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80 % du parc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J+6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Décommissionnement Barbican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sécu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ATTENDUE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Validez le lancement du projet OpenBao centralisé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54864" cy="64008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projet 6 mois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run mutualisé · ETP sécu + infra · matériel HA · prestation accompagnement ([À COMPLÉTER] k€).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54864" cy="64008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 gouvernance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la politique transverse de gestion des secrets, et de l'arrêt à terme des Barbican projet.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54864" cy="64008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Sponsoring exécutif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voix au COMEX pour porter le projet auprès des directions métier (migration progressive).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attendu : un service de secrets sécurisé, conforme, mutualisé — démontrable au prochain audit.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 —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aller plus loin &amp;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Annexes disponibles sur demande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5212080" cy="2468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détaillée HA + bascule Floating IP Neutron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PRA et procédure de restauration Raft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gestion des unseal keys (modèle Shamir 5/3)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fonctionnel exhaustif OpenBao / Vault / Barbican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conformité (ISO 27001, NIS2, DORA, RGPD)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budgétaire détaillée (CAPEX + OPEX 3 ans)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554480"/>
            <a:ext cx="2834640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893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8932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8932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· titre · contact]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aller plus loin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Comparatif · Conformité · PRA · Shamir · Budget · Roadmap · Glossaire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8646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 —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ARCHITECTURE HA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Composants et flux principaux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1508760"/>
            <a:ext cx="1828800" cy="502920"/>
          </a:xfrm>
          <a:prstGeom prst="ellipse">
            <a:avLst/>
          </a:prstGeom>
          <a:solidFill>
            <a:srgbClr val="4A7C59">
              <a:alpha val="70000"/>
            </a:srgbClr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10.10.0.100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49440" y="1508760"/>
            <a:ext cx="1737360" cy="502920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Neutron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(bascule FIP)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331720"/>
            <a:ext cx="1828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ha-1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331720"/>
            <a:ext cx="1828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ha-2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828800" cy="640080"/>
          </a:xfrm>
          <a:prstGeom prst="rect">
            <a:avLst/>
          </a:prstGeom>
          <a:solidFill>
            <a:srgbClr val="E0B254">
              <a:alpha val="70000"/>
            </a:srgbClr>
          </a:solidFill>
          <a:ln w="12700">
            <a:solidFill>
              <a:srgbClr val="E0B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3375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3200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bao-node-1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88720" y="3611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8201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657600" y="3200400"/>
            <a:ext cx="1828800" cy="640080"/>
          </a:xfrm>
          <a:prstGeom prst="rect">
            <a:avLst/>
          </a:prstGeom>
          <a:solidFill>
            <a:srgbClr val="E0B254">
              <a:alpha val="70000"/>
            </a:srgbClr>
          </a:solidFill>
          <a:ln w="12700">
            <a:solidFill>
              <a:srgbClr val="E0B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3375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06240" y="3200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bao-node-2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206240" y="3611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8201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675120" y="3200400"/>
            <a:ext cx="1828800" cy="640080"/>
          </a:xfrm>
          <a:prstGeom prst="rect">
            <a:avLst/>
          </a:prstGeom>
          <a:solidFill>
            <a:srgbClr val="E0B254">
              <a:alpha val="70000"/>
            </a:srgbClr>
          </a:solidFill>
          <a:ln w="12700">
            <a:solidFill>
              <a:srgbClr val="E0B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3375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23760" y="3200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bao-node-3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223760" y="3611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8201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4008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65760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6751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AZ-3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02920" y="4251960"/>
            <a:ext cx="8229600" cy="54864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: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8200/tcp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client TLS 1.3) ·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8201/tcp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(Raft mTLS inter-nœuds) ·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443/tcp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(Keystone+Neutron, sortant)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ARCHITECTURE HA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de bout en bout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Chiffrement en transit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783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obligatoire entre clients et OpenBao. mTLS entre les 3 nœuds Raft (certificats émis par PKI interne).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Chiffrement au repos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05840" y="2377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Raft chiffré nativement par OpenBao (clé maître scellée par Shamir 5/3).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97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systemd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0584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tournant sous user dédié sans shell, capabilities réduites, kernel et /tmp protégés. Surface d'attaque minimale.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3756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291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Pare-feu local nftables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00584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drop par défaut. Seuls SSH, 8200, 8201 (entre pairs Raft) acceptés. Logs des paquets refusés.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3192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Bascule HAProxy automatique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00584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IP réattachée par script local + appel API Neutron. Pas de protocole VRRP exposé sur le réseau.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COMPARATIF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 vs Vault Enterprise vs Barbican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229600" cy="310896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1737360"/>
                <a:gridCol w="16459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Critère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OpenBao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Vault Enterprise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Barbican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économique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LF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HashiCorp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OpenStack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userpass + AppRole + MFA natif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v2 + dynamic secrets (DB, cloud)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 as a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(chiffr. à la demande)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chaîné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 Raft intégré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HA externe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 multi-DC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Auto-unseal (KMS, HSM)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HSM PKCS#11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HSM Cinder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licence annuel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4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/nœud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commercial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partenaires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HashiCorp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intégrateurs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CONFORMITÉ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Couverture ISO 27001 / NIS2 / DORA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22960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Exigence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Référentiel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Comment OpenBao y répond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 d'accès aux secrets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 A.9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HCL, RBAC fin par chemin/opération, MFA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Journalisation et traçabilité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 A.12.4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chaîné, sinks multiples (file + syslog)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Mesures techniques de sécurité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NIS2 art. 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MFA, chiffrement, sandboxing, pare-feu drop par défaut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incidents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NIS2 art. 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→ SIEM, alertes Prometheus, registre incidents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Résilience opérationnelle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 art. 6 à 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Raft 3 nœuds 3 AZ, snapshots automatiques, PRA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de reprise sur incident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 art. 24-26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Restauration snapshot Raft documentée et testable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Cryptographie maîtrisée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 A.10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 interne, TLS 1.3 only, mTLS Raft, rotation cert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CONFORMITÉ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RGPD et PCI-DSS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22960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Exigence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Référentiel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Comment OpenBao y répond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d'accès aux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art. 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par chemin, MFA pour les secrets sensibles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Traçabilité des accès personnels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art.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: qui a lu/écrit, quand, depuis où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Chiffrement données critiques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art. 32.1.a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chiffré, scellé Shamir, transit TLS 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de violation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art. 33-34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alimente le SIEM → détection rapide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des clés tous les 90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3.6.4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TTL/leases natifs, dynamic secrets régénérés à la volée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clés séparé du 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3.5.2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cluster séparée, accès via API 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d'accès non autorisés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11.4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Métriques échecs auth/MFA, alertes Prometheus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PLAN DE REPRISE (PRA)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Snapshots, RPO/RTO, restauration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4023360" cy="31089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Sauvegardes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703320" cy="2423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Raft toutes les 6 h (paramétrable)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locale 7 jours, distante 30 jours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Chiffrés au repos (clé séparée du cluster)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testable sans impact production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d'intégrité automatique (SHA256)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023360" cy="31089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08760"/>
            <a:ext cx="402336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RPO / RTO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RPO ≤ 6 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données maximale en cas de sinistre majeur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RTO ≤ 1 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remise en service depuis snapshot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1 AZ : 0 perte, 0 interruption (HA Raft)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UNSEAL SHAMIR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personnes · seuil de 3 · clés réparties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77240" cy="777240"/>
          </a:xfrm>
          <a:prstGeom prst="ellipse">
            <a:avLst/>
          </a:prstGeom>
          <a:solidFill>
            <a:srgbClr val="E0B254"/>
          </a:solidFill>
          <a:ln w="25400">
            <a:solidFill>
              <a:srgbClr val="E0B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554480"/>
            <a:ext cx="777240" cy="777240"/>
          </a:xfrm>
          <a:prstGeom prst="ellipse">
            <a:avLst/>
          </a:prstGeom>
          <a:solidFill>
            <a:srgbClr val="E0B254"/>
          </a:solidFill>
          <a:ln w="25400">
            <a:solidFill>
              <a:srgbClr val="E0B2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777240" cy="777240"/>
          </a:xfrm>
          <a:prstGeom prst="ellipse">
            <a:avLst/>
          </a:prstGeom>
          <a:solidFill>
            <a:srgbClr val="E0B254"/>
          </a:solidFill>
          <a:ln w="25400">
            <a:solidFill>
              <a:srgbClr val="E0B2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554480"/>
            <a:ext cx="777240" cy="77724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777240" cy="77724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clés sur 5 suffisent pour unseal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de 1 ou 2 personnes : aucun accès au cluster.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Génération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2880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Cérémonie initiale, 5 opérateurs présents. Génération automatisée par Ansible, fichier chiffré côté contrôleur.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Distribution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3337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opérateur reçoit 1 clé, la stocke dans son coffre personnel (KeePass + YubiKey ou équivalent).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79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Unseal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chaque reboot d'un nœud, 3 opérateurs sur 5 fournissent leur clé via API.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Rotation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94560" y="4251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via `bao operator rekey` sans interruption, à fréquence définie par la politique.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BUDGET 3 ANS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 (build) + OPEX (run) — placeholders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229600" cy="3017520"/>
        </p:xfrm>
        <a:graphic>
          <a:graphicData uri="http://schemas.openxmlformats.org/drawingml/2006/table">
            <a:tbl>
              <a:tblPr/>
              <a:tblGrid>
                <a:gridCol w="4023360"/>
                <a:gridCol w="960120"/>
                <a:gridCol w="960120"/>
                <a:gridCol w="960120"/>
                <a:gridCol w="1325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Poste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 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 2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 3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— Build (intégration, formation)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— Compute (3 VMs HA + 2 HAProxy)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— Stockage chiffré + sauvegardes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— Équipe sécurité (FTE mutualisé)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— Audits externes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OpenBao centralisé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Barbican projet (situation actuelle)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[Y] k€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Économie nette estimée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[Y-X]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[Y-X]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[Y-X]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[Y-X]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à compléter avec contrôle de gestion. [X] = OpenBao, [Y] = situation Barbican actuelle. Formation incluse en CAPEX An 1.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ROADMAP DÉTAILLÉE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mois par mois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1508760"/>
            <a:ext cx="990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508760"/>
            <a:ext cx="99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33800" y="1508760"/>
            <a:ext cx="990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3800" y="1508760"/>
            <a:ext cx="99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24400" y="1508760"/>
            <a:ext cx="990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4400" y="1508760"/>
            <a:ext cx="99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1508760"/>
            <a:ext cx="990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508760"/>
            <a:ext cx="99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05600" y="1508760"/>
            <a:ext cx="990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5600" y="1508760"/>
            <a:ext cx="99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96200" y="1508760"/>
            <a:ext cx="990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6200" y="1508760"/>
            <a:ext cx="99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1965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Provisionnement infra (VMs, FIP, SG)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196596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3800" y="196596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4400" y="196596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196596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5600" y="196596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96200" y="196596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2011680"/>
            <a:ext cx="899160" cy="201168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258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cluster OpenBao HA + TLS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0" y="225856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3800" y="225856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4400" y="225856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225856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05600" y="225856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96200" y="225856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2304288"/>
            <a:ext cx="18897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5511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auth, KV, policies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0" y="255117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33800" y="255117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4400" y="255117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15000" y="255117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600" y="255117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6200" y="255117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79520" y="2596896"/>
            <a:ext cx="8991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8437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MFA + SSO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0" y="284378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33800" y="284378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4400" y="284378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15000" y="284378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05600" y="284378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96200" y="284378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79520" y="2889504"/>
            <a:ext cx="18897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136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2 projets (double-écriture)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0" y="3136392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33800" y="3136392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24400" y="3136392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15000" y="3136392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05600" y="3136392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96200" y="3136392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70120" y="3182112"/>
            <a:ext cx="1889760" cy="201168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3429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projets vague 1 (50 %)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0" y="342900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33800" y="342900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24400" y="342900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15000" y="342900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342900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96200" y="3429000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60720" y="3474720"/>
            <a:ext cx="1889760" cy="2011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3721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projets vague 2 (50 %)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0" y="372160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33800" y="372160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24400" y="372160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15000" y="372160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05600" y="372160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96200" y="3721608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51320" y="3767328"/>
            <a:ext cx="899160" cy="2011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40142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Décommissionnement Barbican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0" y="401421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33800" y="401421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24400" y="401421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15000" y="401421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05600" y="401421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96200" y="4014216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41920" y="4059936"/>
            <a:ext cx="899160" cy="20116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920" y="43068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final + documentation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743200" y="430682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733800" y="430682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24400" y="430682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15000" y="430682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05600" y="430682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696200" y="4306824"/>
            <a:ext cx="990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41920" y="4352544"/>
            <a:ext cx="8991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6 mois calendaires · 2 ETP sécurité + 1 ETP infra · phases recouvrantes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GLOSSAIRE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Vocabulaire essentiel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confidentielle : mot de passe, clé d'API, certificat, token. Ce qui ne doit pas fuiter.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63440" y="1508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 (Key-Value)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coffre-fort » classique : on stocke un secret à un chemin, on le relit plus tard. Version 2 = avec historique.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1122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1122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pour qu'une application s'authentifie sans mot de passe humain (rôle + secret machine).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21122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21122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: code à usage unique en plus du mot de passe (Google Auth, Yubikey, etc.).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715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715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réplication entre les 3 nœuds qui garantit qu'ils sont d'accord sur l'état du cluster.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715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2715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Déverrouiller » OpenBao après un démarrage. Nécessite 3 personnes sur 5 pour fournir leurs clés Shamir.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3192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qui dit qui peut faire quoi sur quel chemin (ex : appli A peut lire mais pas écrire sur secret/projet-A/).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33192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TLS / mTLS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3192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échanges réseau. mTLS = les deux parties s'authentifient mutuellement.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9227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9227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infalsifiable de toutes les opérations effectuées sur OpenBao. Indispensable pour un audit de conformité.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39227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KMS / HSM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9227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Coffre matériel externe pour clés cryptographiques. Hors scope ici (alternative à Shamir, plus coûteuse).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FAQ ANTICIPÉES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probables direction et auditeurs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864" cy="5029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pas Vault Enterprise (HashiCorp) 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licence annuel par nœud significatif. OpenBao est le fork open-source officiel sous gouvernance Linux Foundation, fonctionnellement équivalent pour notre périmètre.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4864" cy="5029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pas Octavia / un load-balancer managé 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une dépendance supplémentaire à un service OpenStack et un coût récurrent. La bascule via Floating IP + script local est éprouvée et moins coûteuse.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54864" cy="5029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97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5 personnes Shamir et pas un KMS 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dépendance à un fournisseur externe (KMS cloud) ni à un HSM (matériel coûteux). 5 personnes = sécurité humaine partagée, conforme au principe de moindre confiance.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54864" cy="5029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91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 passe-t-il si tout le DC tombe 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manuelle vers un cluster secondaire restauré depuis snapshot Raft (RPO 6 h, RTO 1 h). PRA complet documenté dans le runbook d'exploitation.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54864" cy="502920"/>
          </a:xfrm>
          <a:prstGeom prst="rect">
            <a:avLst/>
          </a:prstGeom>
          <a:solidFill>
            <a:srgbClr val="E0B254"/>
          </a:solidFill>
          <a:ln w="12700">
            <a:solidFill>
              <a:srgbClr val="E0B2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862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Combien de temps pour migrer un projet 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heures par projet une fois le pattern validé : provisionner les chemins KV, créer l'AppRole, basculer la conf applicative. Phase pilote sur 2 projets pour rôder.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centralisé · Pitch direction · Confidentiel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OpenBao centralisé vs Barbican projet — pitch direction</dc:title>
  <dc:subject>PptxGenJS Presentation</dc:subject>
  <dc:creator>DSI / Sécurité</dc:creator>
  <cp:lastModifiedBy>DSI / Sécurité</cp:lastModifiedBy>
  <cp:revision>1</cp:revision>
  <dcterms:created xsi:type="dcterms:W3CDTF">2026-04-28T19:27:20Z</dcterms:created>
  <dcterms:modified xsi:type="dcterms:W3CDTF">2026-04-28T19:27:20Z</dcterms:modified>
</cp:coreProperties>
</file>